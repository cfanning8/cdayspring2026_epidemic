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43891200" cy="32918400"/>
  <p:notesSz cx="32918400" cy="5120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32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32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32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32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17" userDrawn="1">
          <p15:clr>
            <a:srgbClr val="A4A3A4"/>
          </p15:clr>
        </p15:guide>
        <p15:guide id="2" orient="horz" pos="19632" userDrawn="1">
          <p15:clr>
            <a:srgbClr val="A4A3A4"/>
          </p15:clr>
        </p15:guide>
        <p15:guide id="3" orient="horz" pos="3729" userDrawn="1">
          <p15:clr>
            <a:srgbClr val="A4A3A4"/>
          </p15:clr>
        </p15:guide>
        <p15:guide id="4" orient="horz" pos="2129" userDrawn="1">
          <p15:clr>
            <a:srgbClr val="A4A3A4"/>
          </p15:clr>
        </p15:guide>
        <p15:guide id="5" pos="6376" userDrawn="1">
          <p15:clr>
            <a:srgbClr val="A4A3A4"/>
          </p15:clr>
        </p15:guide>
        <p15:guide id="6" pos="7210" userDrawn="1">
          <p15:clr>
            <a:srgbClr val="A4A3A4"/>
          </p15:clr>
        </p15:guide>
        <p15:guide id="7" pos="13124" userDrawn="1">
          <p15:clr>
            <a:srgbClr val="A4A3A4"/>
          </p15:clr>
        </p15:guide>
        <p15:guide id="8" pos="21030" userDrawn="1">
          <p15:clr>
            <a:srgbClr val="A4A3A4"/>
          </p15:clr>
        </p15:guide>
        <p15:guide id="9" pos="986" userDrawn="1">
          <p15:clr>
            <a:srgbClr val="A4A3A4"/>
          </p15:clr>
        </p15:guide>
        <p15:guide id="10" pos="13997" userDrawn="1">
          <p15:clr>
            <a:srgbClr val="A4A3A4"/>
          </p15:clr>
        </p15:guide>
        <p15:guide id="11" pos="20197" userDrawn="1">
          <p15:clr>
            <a:srgbClr val="A4A3A4"/>
          </p15:clr>
        </p15:guide>
        <p15:guide id="12" pos="2646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1919"/>
    <a:srgbClr val="FFFF66"/>
    <a:srgbClr val="FFFFE1"/>
    <a:srgbClr val="FFF3F3"/>
    <a:srgbClr val="800040"/>
    <a:srgbClr val="004080"/>
    <a:srgbClr val="FF6FCF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5033" autoAdjust="0"/>
  </p:normalViewPr>
  <p:slideViewPr>
    <p:cSldViewPr snapToGrid="0">
      <p:cViewPr>
        <p:scale>
          <a:sx n="66" d="100"/>
          <a:sy n="66" d="100"/>
        </p:scale>
        <p:origin x="1099" y="-9581"/>
      </p:cViewPr>
      <p:guideLst>
        <p:guide orient="horz" pos="717"/>
        <p:guide orient="horz" pos="19632"/>
        <p:guide orient="horz" pos="3729"/>
        <p:guide orient="horz" pos="2129"/>
        <p:guide pos="6376"/>
        <p:guide pos="7210"/>
        <p:guide pos="13124"/>
        <p:guide pos="21030"/>
        <p:guide pos="986"/>
        <p:guide pos="13997"/>
        <p:guide pos="20197"/>
        <p:guide pos="264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50" d="100"/>
        <a:sy n="5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4265275" cy="25606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8646775" y="0"/>
            <a:ext cx="14263688" cy="25606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2C19B169-612A-4EB3-9B53-B5D4B6901639}" type="datetime1">
              <a:rPr lang="en-US" altLang="en-US"/>
              <a:pPr>
                <a:defRPr/>
              </a:pPr>
              <a:t>4/1/2026</a:t>
            </a:fld>
            <a:endParaRPr lang="en-US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657600" y="3840163"/>
            <a:ext cx="25603200" cy="19202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3292475" y="24323675"/>
            <a:ext cx="26333450" cy="2304256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637825"/>
            <a:ext cx="14265275" cy="25590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alibri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8646775" y="48637825"/>
            <a:ext cx="14263688" cy="25590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A9DEA5F7-5D50-4583-8D9F-32F5DCF14774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ＭＳ Ｐゴシック" pitchFamily="-111" charset="-128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657600" y="3840163"/>
            <a:ext cx="25603200" cy="192024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en-US" sz="9600" dirty="0">
                <a:solidFill>
                  <a:srgbClr val="000000"/>
                </a:solidFill>
              </a:rPr>
              <a:t>Copyright Colin </a:t>
            </a:r>
            <a:r>
              <a:rPr lang="en-US" altLang="en-US" sz="9600" dirty="0" err="1">
                <a:solidFill>
                  <a:srgbClr val="000000"/>
                </a:solidFill>
              </a:rPr>
              <a:t>Purrington</a:t>
            </a:r>
            <a:r>
              <a:rPr lang="en-US" altLang="en-US" sz="9600" dirty="0">
                <a:solidFill>
                  <a:srgbClr val="000000"/>
                </a:solidFill>
              </a:rPr>
              <a:t> (</a:t>
            </a:r>
            <a:r>
              <a:rPr lang="en-US" altLang="en-US" sz="9600" dirty="0">
                <a:solidFill>
                  <a:srgbClr val="000000"/>
                </a:solidFill>
                <a:latin typeface="Times New Roman" panose="02020603050405020304" pitchFamily="18" charset="0"/>
              </a:rPr>
              <a:t>http://</a:t>
            </a:r>
            <a:r>
              <a:rPr lang="en-US" altLang="en-US" sz="9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colinpurrington.com</a:t>
            </a:r>
            <a:r>
              <a:rPr lang="en-US" altLang="en-US" sz="9600" dirty="0">
                <a:solidFill>
                  <a:srgbClr val="000000"/>
                </a:solidFill>
                <a:latin typeface="Times New Roman" panose="02020603050405020304" pitchFamily="18" charset="0"/>
              </a:rPr>
              <a:t>/tips/academic/</a:t>
            </a:r>
            <a:r>
              <a:rPr lang="en-US" altLang="en-US" sz="9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posterdesign</a:t>
            </a:r>
            <a:r>
              <a:rPr lang="en-US" altLang="en-US" sz="9600" dirty="0">
                <a:solidFill>
                  <a:srgbClr val="000000"/>
                </a:solidFill>
                <a:latin typeface="Times New Roman" panose="02020603050405020304" pitchFamily="18" charset="0"/>
              </a:rPr>
              <a:t>).</a:t>
            </a:r>
            <a:endParaRPr lang="en-US" altLang="en-US" sz="9600" dirty="0">
              <a:solidFill>
                <a:srgbClr val="000000"/>
              </a:solidFill>
            </a:endParaRPr>
          </a:p>
          <a:p>
            <a:pPr eaLnBrk="1" hangingPunct="1">
              <a:spcBef>
                <a:spcPct val="0"/>
              </a:spcBef>
            </a:pPr>
            <a:endParaRPr lang="en-US" altLang="en-US" sz="9600" dirty="0">
              <a:solidFill>
                <a:srgbClr val="FF0000"/>
              </a:solidFill>
            </a:endParaRPr>
          </a:p>
        </p:txBody>
      </p:sp>
      <p:sp>
        <p:nvSpPr>
          <p:cNvPr id="410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fld id="{1DA5F652-ADC1-4E21-8467-0D92D647D079}" type="slidenum">
              <a:rPr lang="en-US" altLang="en-US"/>
              <a:pPr eaLnBrk="1" hangingPunct="1">
                <a:spcBef>
                  <a:spcPct val="0"/>
                </a:spcBef>
              </a:pPr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1570" y="10226675"/>
            <a:ext cx="37308064" cy="70548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83136" y="18653126"/>
            <a:ext cx="30724929" cy="8413750"/>
          </a:xfrm>
        </p:spPr>
        <p:txBody>
          <a:bodyPr/>
          <a:lstStyle>
            <a:lvl1pPr marL="0" indent="0" algn="ctr">
              <a:buNone/>
              <a:defRPr/>
            </a:lvl1pPr>
            <a:lvl2pPr marL="470276" indent="0" algn="ctr">
              <a:buNone/>
              <a:defRPr/>
            </a:lvl2pPr>
            <a:lvl3pPr marL="940552" indent="0" algn="ctr">
              <a:buNone/>
              <a:defRPr/>
            </a:lvl3pPr>
            <a:lvl4pPr marL="1410828" indent="0" algn="ctr">
              <a:buNone/>
              <a:defRPr/>
            </a:lvl4pPr>
            <a:lvl5pPr marL="1881104" indent="0" algn="ctr">
              <a:buNone/>
              <a:defRPr/>
            </a:lvl5pPr>
            <a:lvl6pPr marL="2351380" indent="0" algn="ctr">
              <a:buNone/>
              <a:defRPr/>
            </a:lvl6pPr>
            <a:lvl7pPr marL="2821656" indent="0" algn="ctr">
              <a:buNone/>
              <a:defRPr/>
            </a:lvl7pPr>
            <a:lvl8pPr marL="3291931" indent="0" algn="ctr">
              <a:buNone/>
              <a:defRPr/>
            </a:lvl8pPr>
            <a:lvl9pPr marL="3762207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4475AFC-6857-4F56-927C-246035CB189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2900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EA363FA-9981-4AE7-9FF1-E26261854C9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7178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7101" y="21153439"/>
            <a:ext cx="37308064" cy="6537325"/>
          </a:xfrm>
        </p:spPr>
        <p:txBody>
          <a:bodyPr anchor="t"/>
          <a:lstStyle>
            <a:lvl1pPr algn="l">
              <a:defRPr sz="4114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7101" y="13952539"/>
            <a:ext cx="37308064" cy="7200900"/>
          </a:xfrm>
        </p:spPr>
        <p:txBody>
          <a:bodyPr anchor="b"/>
          <a:lstStyle>
            <a:lvl1pPr marL="0" indent="0">
              <a:buNone/>
              <a:defRPr sz="2057"/>
            </a:lvl1pPr>
            <a:lvl2pPr marL="470276" indent="0">
              <a:buNone/>
              <a:defRPr sz="1851"/>
            </a:lvl2pPr>
            <a:lvl3pPr marL="940552" indent="0">
              <a:buNone/>
              <a:defRPr sz="1646"/>
            </a:lvl3pPr>
            <a:lvl4pPr marL="1410828" indent="0">
              <a:buNone/>
              <a:defRPr sz="1440"/>
            </a:lvl4pPr>
            <a:lvl5pPr marL="1881104" indent="0">
              <a:buNone/>
              <a:defRPr sz="1440"/>
            </a:lvl5pPr>
            <a:lvl6pPr marL="2351380" indent="0">
              <a:buNone/>
              <a:defRPr sz="1440"/>
            </a:lvl6pPr>
            <a:lvl7pPr marL="2821656" indent="0">
              <a:buNone/>
              <a:defRPr sz="1440"/>
            </a:lvl7pPr>
            <a:lvl8pPr marL="3291931" indent="0">
              <a:buNone/>
              <a:defRPr sz="1440"/>
            </a:lvl8pPr>
            <a:lvl9pPr marL="3762207" indent="0">
              <a:buNone/>
              <a:defRPr sz="144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993F705-AD89-4D8C-8820-7C789B9B370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8910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291570" y="9510714"/>
            <a:ext cx="18588717" cy="19750087"/>
          </a:xfrm>
        </p:spPr>
        <p:txBody>
          <a:bodyPr/>
          <a:lstStyle>
            <a:lvl1pPr>
              <a:defRPr sz="2880"/>
            </a:lvl1pPr>
            <a:lvl2pPr>
              <a:defRPr sz="2469"/>
            </a:lvl2pPr>
            <a:lvl3pPr>
              <a:defRPr sz="2057"/>
            </a:lvl3pPr>
            <a:lvl4pPr>
              <a:defRPr sz="1851"/>
            </a:lvl4pPr>
            <a:lvl5pPr>
              <a:defRPr sz="1851"/>
            </a:lvl5pPr>
            <a:lvl6pPr>
              <a:defRPr sz="1851"/>
            </a:lvl6pPr>
            <a:lvl7pPr>
              <a:defRPr sz="1851"/>
            </a:lvl7pPr>
            <a:lvl8pPr>
              <a:defRPr sz="1851"/>
            </a:lvl8pPr>
            <a:lvl9pPr>
              <a:defRPr sz="185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010914" y="9510714"/>
            <a:ext cx="18588718" cy="19750087"/>
          </a:xfrm>
        </p:spPr>
        <p:txBody>
          <a:bodyPr/>
          <a:lstStyle>
            <a:lvl1pPr>
              <a:defRPr sz="2880"/>
            </a:lvl1pPr>
            <a:lvl2pPr>
              <a:defRPr sz="2469"/>
            </a:lvl2pPr>
            <a:lvl3pPr>
              <a:defRPr sz="2057"/>
            </a:lvl3pPr>
            <a:lvl4pPr>
              <a:defRPr sz="1851"/>
            </a:lvl4pPr>
            <a:lvl5pPr>
              <a:defRPr sz="1851"/>
            </a:lvl5pPr>
            <a:lvl6pPr>
              <a:defRPr sz="1851"/>
            </a:lvl6pPr>
            <a:lvl7pPr>
              <a:defRPr sz="1851"/>
            </a:lvl7pPr>
            <a:lvl8pPr>
              <a:defRPr sz="1851"/>
            </a:lvl8pPr>
            <a:lvl9pPr>
              <a:defRPr sz="185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9E12873-F9C7-4030-8D1A-09704E91C28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579717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834" y="1317625"/>
            <a:ext cx="39501536" cy="54864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94833" y="7369176"/>
            <a:ext cx="19392900" cy="3070225"/>
          </a:xfrm>
        </p:spPr>
        <p:txBody>
          <a:bodyPr anchor="b"/>
          <a:lstStyle>
            <a:lvl1pPr marL="0" indent="0">
              <a:buNone/>
              <a:defRPr sz="2469" b="1"/>
            </a:lvl1pPr>
            <a:lvl2pPr marL="470276" indent="0">
              <a:buNone/>
              <a:defRPr sz="2057" b="1"/>
            </a:lvl2pPr>
            <a:lvl3pPr marL="940552" indent="0">
              <a:buNone/>
              <a:defRPr sz="1851" b="1"/>
            </a:lvl3pPr>
            <a:lvl4pPr marL="1410828" indent="0">
              <a:buNone/>
              <a:defRPr sz="1646" b="1"/>
            </a:lvl4pPr>
            <a:lvl5pPr marL="1881104" indent="0">
              <a:buNone/>
              <a:defRPr sz="1646" b="1"/>
            </a:lvl5pPr>
            <a:lvl6pPr marL="2351380" indent="0">
              <a:buNone/>
              <a:defRPr sz="1646" b="1"/>
            </a:lvl6pPr>
            <a:lvl7pPr marL="2821656" indent="0">
              <a:buNone/>
              <a:defRPr sz="1646" b="1"/>
            </a:lvl7pPr>
            <a:lvl8pPr marL="3291931" indent="0">
              <a:buNone/>
              <a:defRPr sz="1646" b="1"/>
            </a:lvl8pPr>
            <a:lvl9pPr marL="3762207" indent="0">
              <a:buNone/>
              <a:defRPr sz="164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94833" y="10439401"/>
            <a:ext cx="19392900" cy="18965863"/>
          </a:xfrm>
        </p:spPr>
        <p:txBody>
          <a:bodyPr/>
          <a:lstStyle>
            <a:lvl1pPr>
              <a:defRPr sz="2469"/>
            </a:lvl1pPr>
            <a:lvl2pPr>
              <a:defRPr sz="2057"/>
            </a:lvl2pPr>
            <a:lvl3pPr>
              <a:defRPr sz="1851"/>
            </a:lvl3pPr>
            <a:lvl4pPr>
              <a:defRPr sz="1646"/>
            </a:lvl4pPr>
            <a:lvl5pPr>
              <a:defRPr sz="1646"/>
            </a:lvl5pPr>
            <a:lvl6pPr>
              <a:defRPr sz="1646"/>
            </a:lvl6pPr>
            <a:lvl7pPr>
              <a:defRPr sz="1646"/>
            </a:lvl7pPr>
            <a:lvl8pPr>
              <a:defRPr sz="1646"/>
            </a:lvl8pPr>
            <a:lvl9pPr>
              <a:defRPr sz="164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96664" y="7369176"/>
            <a:ext cx="19399704" cy="3070225"/>
          </a:xfrm>
        </p:spPr>
        <p:txBody>
          <a:bodyPr anchor="b"/>
          <a:lstStyle>
            <a:lvl1pPr marL="0" indent="0">
              <a:buNone/>
              <a:defRPr sz="2469" b="1"/>
            </a:lvl1pPr>
            <a:lvl2pPr marL="470276" indent="0">
              <a:buNone/>
              <a:defRPr sz="2057" b="1"/>
            </a:lvl2pPr>
            <a:lvl3pPr marL="940552" indent="0">
              <a:buNone/>
              <a:defRPr sz="1851" b="1"/>
            </a:lvl3pPr>
            <a:lvl4pPr marL="1410828" indent="0">
              <a:buNone/>
              <a:defRPr sz="1646" b="1"/>
            </a:lvl4pPr>
            <a:lvl5pPr marL="1881104" indent="0">
              <a:buNone/>
              <a:defRPr sz="1646" b="1"/>
            </a:lvl5pPr>
            <a:lvl6pPr marL="2351380" indent="0">
              <a:buNone/>
              <a:defRPr sz="1646" b="1"/>
            </a:lvl6pPr>
            <a:lvl7pPr marL="2821656" indent="0">
              <a:buNone/>
              <a:defRPr sz="1646" b="1"/>
            </a:lvl7pPr>
            <a:lvl8pPr marL="3291931" indent="0">
              <a:buNone/>
              <a:defRPr sz="1646" b="1"/>
            </a:lvl8pPr>
            <a:lvl9pPr marL="3762207" indent="0">
              <a:buNone/>
              <a:defRPr sz="164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96664" y="10439401"/>
            <a:ext cx="19399704" cy="18965863"/>
          </a:xfrm>
        </p:spPr>
        <p:txBody>
          <a:bodyPr/>
          <a:lstStyle>
            <a:lvl1pPr>
              <a:defRPr sz="2469"/>
            </a:lvl1pPr>
            <a:lvl2pPr>
              <a:defRPr sz="2057"/>
            </a:lvl2pPr>
            <a:lvl3pPr>
              <a:defRPr sz="1851"/>
            </a:lvl3pPr>
            <a:lvl4pPr>
              <a:defRPr sz="1646"/>
            </a:lvl4pPr>
            <a:lvl5pPr>
              <a:defRPr sz="1646"/>
            </a:lvl5pPr>
            <a:lvl6pPr>
              <a:defRPr sz="1646"/>
            </a:lvl6pPr>
            <a:lvl7pPr>
              <a:defRPr sz="1646"/>
            </a:lvl7pPr>
            <a:lvl8pPr>
              <a:defRPr sz="1646"/>
            </a:lvl8pPr>
            <a:lvl9pPr>
              <a:defRPr sz="164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715957A-C4BF-428D-896B-2CFE4CD3BF9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26819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BCD3D86-CDF1-40D2-9EC2-9521D9AB657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58640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DF6F5D9-9F41-43F0-A3BB-BE6F460DD97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24853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833" y="1311275"/>
            <a:ext cx="14439900" cy="5576888"/>
          </a:xfrm>
        </p:spPr>
        <p:txBody>
          <a:bodyPr anchor="b"/>
          <a:lstStyle>
            <a:lvl1pPr algn="l">
              <a:defRPr sz="205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59968" y="1311276"/>
            <a:ext cx="24536400" cy="28093988"/>
          </a:xfrm>
        </p:spPr>
        <p:txBody>
          <a:bodyPr/>
          <a:lstStyle>
            <a:lvl1pPr>
              <a:defRPr sz="3292"/>
            </a:lvl1pPr>
            <a:lvl2pPr>
              <a:defRPr sz="2880"/>
            </a:lvl2pPr>
            <a:lvl3pPr>
              <a:defRPr sz="2469"/>
            </a:lvl3pPr>
            <a:lvl4pPr>
              <a:defRPr sz="2057"/>
            </a:lvl4pPr>
            <a:lvl5pPr>
              <a:defRPr sz="2057"/>
            </a:lvl5pPr>
            <a:lvl6pPr>
              <a:defRPr sz="2057"/>
            </a:lvl6pPr>
            <a:lvl7pPr>
              <a:defRPr sz="2057"/>
            </a:lvl7pPr>
            <a:lvl8pPr>
              <a:defRPr sz="2057"/>
            </a:lvl8pPr>
            <a:lvl9pPr>
              <a:defRPr sz="205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94833" y="6888163"/>
            <a:ext cx="14439900" cy="22517100"/>
          </a:xfrm>
        </p:spPr>
        <p:txBody>
          <a:bodyPr/>
          <a:lstStyle>
            <a:lvl1pPr marL="0" indent="0">
              <a:buNone/>
              <a:defRPr sz="1440"/>
            </a:lvl1pPr>
            <a:lvl2pPr marL="470276" indent="0">
              <a:buNone/>
              <a:defRPr sz="1234"/>
            </a:lvl2pPr>
            <a:lvl3pPr marL="940552" indent="0">
              <a:buNone/>
              <a:defRPr sz="1029"/>
            </a:lvl3pPr>
            <a:lvl4pPr marL="1410828" indent="0">
              <a:buNone/>
              <a:defRPr sz="926"/>
            </a:lvl4pPr>
            <a:lvl5pPr marL="1881104" indent="0">
              <a:buNone/>
              <a:defRPr sz="926"/>
            </a:lvl5pPr>
            <a:lvl6pPr marL="2351380" indent="0">
              <a:buNone/>
              <a:defRPr sz="926"/>
            </a:lvl6pPr>
            <a:lvl7pPr marL="2821656" indent="0">
              <a:buNone/>
              <a:defRPr sz="926"/>
            </a:lvl7pPr>
            <a:lvl8pPr marL="3291931" indent="0">
              <a:buNone/>
              <a:defRPr sz="926"/>
            </a:lvl8pPr>
            <a:lvl9pPr marL="3762207" indent="0">
              <a:buNone/>
              <a:defRPr sz="92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CD7565A-D9F2-4012-8632-75D639395B7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929035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2437" y="23042563"/>
            <a:ext cx="26335264" cy="2720975"/>
          </a:xfrm>
        </p:spPr>
        <p:txBody>
          <a:bodyPr anchor="b"/>
          <a:lstStyle>
            <a:lvl1pPr algn="l">
              <a:defRPr sz="205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602437" y="2941639"/>
            <a:ext cx="26335264" cy="19750087"/>
          </a:xfrm>
        </p:spPr>
        <p:txBody>
          <a:bodyPr/>
          <a:lstStyle>
            <a:lvl1pPr marL="0" indent="0">
              <a:buNone/>
              <a:defRPr sz="3292"/>
            </a:lvl1pPr>
            <a:lvl2pPr marL="470276" indent="0">
              <a:buNone/>
              <a:defRPr sz="2880"/>
            </a:lvl2pPr>
            <a:lvl3pPr marL="940552" indent="0">
              <a:buNone/>
              <a:defRPr sz="2469"/>
            </a:lvl3pPr>
            <a:lvl4pPr marL="1410828" indent="0">
              <a:buNone/>
              <a:defRPr sz="2057"/>
            </a:lvl4pPr>
            <a:lvl5pPr marL="1881104" indent="0">
              <a:buNone/>
              <a:defRPr sz="2057"/>
            </a:lvl5pPr>
            <a:lvl6pPr marL="2351380" indent="0">
              <a:buNone/>
              <a:defRPr sz="2057"/>
            </a:lvl6pPr>
            <a:lvl7pPr marL="2821656" indent="0">
              <a:buNone/>
              <a:defRPr sz="2057"/>
            </a:lvl7pPr>
            <a:lvl8pPr marL="3291931" indent="0">
              <a:buNone/>
              <a:defRPr sz="2057"/>
            </a:lvl8pPr>
            <a:lvl9pPr marL="3762207" indent="0">
              <a:buNone/>
              <a:defRPr sz="2057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2437" y="25763539"/>
            <a:ext cx="26335264" cy="3862387"/>
          </a:xfrm>
        </p:spPr>
        <p:txBody>
          <a:bodyPr/>
          <a:lstStyle>
            <a:lvl1pPr marL="0" indent="0">
              <a:buNone/>
              <a:defRPr sz="1440"/>
            </a:lvl1pPr>
            <a:lvl2pPr marL="470276" indent="0">
              <a:buNone/>
              <a:defRPr sz="1234"/>
            </a:lvl2pPr>
            <a:lvl3pPr marL="940552" indent="0">
              <a:buNone/>
              <a:defRPr sz="1029"/>
            </a:lvl3pPr>
            <a:lvl4pPr marL="1410828" indent="0">
              <a:buNone/>
              <a:defRPr sz="926"/>
            </a:lvl4pPr>
            <a:lvl5pPr marL="1881104" indent="0">
              <a:buNone/>
              <a:defRPr sz="926"/>
            </a:lvl5pPr>
            <a:lvl6pPr marL="2351380" indent="0">
              <a:buNone/>
              <a:defRPr sz="926"/>
            </a:lvl6pPr>
            <a:lvl7pPr marL="2821656" indent="0">
              <a:buNone/>
              <a:defRPr sz="926"/>
            </a:lvl7pPr>
            <a:lvl8pPr marL="3291931" indent="0">
              <a:buNone/>
              <a:defRPr sz="926"/>
            </a:lvl8pPr>
            <a:lvl9pPr marL="3762207" indent="0">
              <a:buNone/>
              <a:defRPr sz="92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BD57092-E69B-40AB-B019-09F471467C6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002838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5548AA4-E645-4DFE-B7E2-F971D815956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3262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273298" y="2925763"/>
            <a:ext cx="9326336" cy="263350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291568" y="2925763"/>
            <a:ext cx="27851100" cy="263350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7C3553D-7CED-4791-A3A1-6B0D4A9AC22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20532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291569" y="2926080"/>
            <a:ext cx="37308064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07557" tIns="203779" rIns="407557" bIns="20377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291569" y="9511393"/>
            <a:ext cx="37308064" cy="197494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07557" tIns="203779" rIns="407557" bIns="20377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291568" y="29992320"/>
            <a:ext cx="9144000" cy="2194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407557" tIns="203779" rIns="407557" bIns="203779" numCol="1" anchor="t" anchorCtr="0" compatLnSpc="1">
            <a:prstTxWarp prst="textNoShape">
              <a:avLst/>
            </a:prstTxWarp>
          </a:bodyPr>
          <a:lstStyle>
            <a:lvl1pPr>
              <a:defRPr sz="6377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4996433" y="29992320"/>
            <a:ext cx="13898336" cy="2194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407557" tIns="203779" rIns="407557" bIns="203779" numCol="1" anchor="t" anchorCtr="0" compatLnSpc="1">
            <a:prstTxWarp prst="textNoShape">
              <a:avLst/>
            </a:prstTxWarp>
          </a:bodyPr>
          <a:lstStyle>
            <a:lvl1pPr algn="ctr">
              <a:defRPr sz="6377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1455633" y="29992320"/>
            <a:ext cx="9144000" cy="2194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407557" tIns="203779" rIns="407557" bIns="203779" numCol="1" anchor="t" anchorCtr="0" compatLnSpc="1">
            <a:prstTxWarp prst="textNoShape">
              <a:avLst/>
            </a:prstTxWarp>
          </a:bodyPr>
          <a:lstStyle>
            <a:lvl1pPr algn="r">
              <a:defRPr sz="6377">
                <a:latin typeface="Times New Roman" panose="02020603050405020304" pitchFamily="18" charset="0"/>
              </a:defRPr>
            </a:lvl1pPr>
          </a:lstStyle>
          <a:p>
            <a:fld id="{0A184785-1B36-471E-9352-394AF09A17E3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191661" rtl="0" eaLnBrk="0" fontAlgn="base" hangingPunct="0">
        <a:spcBef>
          <a:spcPct val="0"/>
        </a:spcBef>
        <a:spcAft>
          <a:spcPct val="0"/>
        </a:spcAft>
        <a:defRPr sz="20161">
          <a:solidFill>
            <a:schemeClr val="tx2"/>
          </a:solidFill>
          <a:latin typeface="+mj-lt"/>
          <a:ea typeface="MS PGothic" pitchFamily="34" charset="-128"/>
          <a:cs typeface="ＭＳ Ｐゴシック" pitchFamily="-65" charset="-128"/>
        </a:defRPr>
      </a:lvl1pPr>
      <a:lvl2pPr algn="ctr" defTabSz="4191661" rtl="0" eaLnBrk="0" fontAlgn="base" hangingPunct="0">
        <a:spcBef>
          <a:spcPct val="0"/>
        </a:spcBef>
        <a:spcAft>
          <a:spcPct val="0"/>
        </a:spcAft>
        <a:defRPr sz="20161">
          <a:solidFill>
            <a:schemeClr val="tx2"/>
          </a:solidFill>
          <a:latin typeface="Times New Roman" pitchFamily="-65" charset="0"/>
          <a:ea typeface="MS PGothic" pitchFamily="34" charset="-128"/>
          <a:cs typeface="ＭＳ Ｐゴシック" pitchFamily="-65" charset="-128"/>
        </a:defRPr>
      </a:lvl2pPr>
      <a:lvl3pPr algn="ctr" defTabSz="4191661" rtl="0" eaLnBrk="0" fontAlgn="base" hangingPunct="0">
        <a:spcBef>
          <a:spcPct val="0"/>
        </a:spcBef>
        <a:spcAft>
          <a:spcPct val="0"/>
        </a:spcAft>
        <a:defRPr sz="20161">
          <a:solidFill>
            <a:schemeClr val="tx2"/>
          </a:solidFill>
          <a:latin typeface="Times New Roman" pitchFamily="-65" charset="0"/>
          <a:ea typeface="MS PGothic" pitchFamily="34" charset="-128"/>
          <a:cs typeface="ＭＳ Ｐゴシック" pitchFamily="-65" charset="-128"/>
        </a:defRPr>
      </a:lvl3pPr>
      <a:lvl4pPr algn="ctr" defTabSz="4191661" rtl="0" eaLnBrk="0" fontAlgn="base" hangingPunct="0">
        <a:spcBef>
          <a:spcPct val="0"/>
        </a:spcBef>
        <a:spcAft>
          <a:spcPct val="0"/>
        </a:spcAft>
        <a:defRPr sz="20161">
          <a:solidFill>
            <a:schemeClr val="tx2"/>
          </a:solidFill>
          <a:latin typeface="Times New Roman" pitchFamily="-65" charset="0"/>
          <a:ea typeface="MS PGothic" pitchFamily="34" charset="-128"/>
          <a:cs typeface="ＭＳ Ｐゴシック" pitchFamily="-65" charset="-128"/>
        </a:defRPr>
      </a:lvl4pPr>
      <a:lvl5pPr algn="ctr" defTabSz="4191661" rtl="0" eaLnBrk="0" fontAlgn="base" hangingPunct="0">
        <a:spcBef>
          <a:spcPct val="0"/>
        </a:spcBef>
        <a:spcAft>
          <a:spcPct val="0"/>
        </a:spcAft>
        <a:defRPr sz="20161">
          <a:solidFill>
            <a:schemeClr val="tx2"/>
          </a:solidFill>
          <a:latin typeface="Times New Roman" pitchFamily="-65" charset="0"/>
          <a:ea typeface="MS PGothic" pitchFamily="34" charset="-128"/>
          <a:cs typeface="ＭＳ Ｐゴシック" pitchFamily="-65" charset="-128"/>
        </a:defRPr>
      </a:lvl5pPr>
      <a:lvl6pPr marL="470276" algn="ctr" defTabSz="4191661" rtl="0" fontAlgn="base">
        <a:spcBef>
          <a:spcPct val="0"/>
        </a:spcBef>
        <a:spcAft>
          <a:spcPct val="0"/>
        </a:spcAft>
        <a:defRPr sz="20161">
          <a:solidFill>
            <a:schemeClr val="tx2"/>
          </a:solidFill>
          <a:latin typeface="Times New Roman" pitchFamily="-65" charset="0"/>
        </a:defRPr>
      </a:lvl6pPr>
      <a:lvl7pPr marL="940552" algn="ctr" defTabSz="4191661" rtl="0" fontAlgn="base">
        <a:spcBef>
          <a:spcPct val="0"/>
        </a:spcBef>
        <a:spcAft>
          <a:spcPct val="0"/>
        </a:spcAft>
        <a:defRPr sz="20161">
          <a:solidFill>
            <a:schemeClr val="tx2"/>
          </a:solidFill>
          <a:latin typeface="Times New Roman" pitchFamily="-65" charset="0"/>
        </a:defRPr>
      </a:lvl7pPr>
      <a:lvl8pPr marL="1410828" algn="ctr" defTabSz="4191661" rtl="0" fontAlgn="base">
        <a:spcBef>
          <a:spcPct val="0"/>
        </a:spcBef>
        <a:spcAft>
          <a:spcPct val="0"/>
        </a:spcAft>
        <a:defRPr sz="20161">
          <a:solidFill>
            <a:schemeClr val="tx2"/>
          </a:solidFill>
          <a:latin typeface="Times New Roman" pitchFamily="-65" charset="0"/>
        </a:defRPr>
      </a:lvl8pPr>
      <a:lvl9pPr marL="1881104" algn="ctr" defTabSz="4191661" rtl="0" fontAlgn="base">
        <a:spcBef>
          <a:spcPct val="0"/>
        </a:spcBef>
        <a:spcAft>
          <a:spcPct val="0"/>
        </a:spcAft>
        <a:defRPr sz="20161">
          <a:solidFill>
            <a:schemeClr val="tx2"/>
          </a:solidFill>
          <a:latin typeface="Times New Roman" pitchFamily="-65" charset="0"/>
        </a:defRPr>
      </a:lvl9pPr>
    </p:titleStyle>
    <p:bodyStyle>
      <a:lvl1pPr marL="1572486" indent="-1572486" algn="l" defTabSz="4191661" rtl="0" eaLnBrk="0" fontAlgn="base" hangingPunct="0">
        <a:spcBef>
          <a:spcPct val="20000"/>
        </a:spcBef>
        <a:spcAft>
          <a:spcPct val="0"/>
        </a:spcAft>
        <a:buChar char="•"/>
        <a:defRPr sz="14709">
          <a:solidFill>
            <a:schemeClr val="tx1"/>
          </a:solidFill>
          <a:latin typeface="+mn-lt"/>
          <a:ea typeface="MS PGothic" pitchFamily="34" charset="-128"/>
          <a:cs typeface="ＭＳ Ｐゴシック" pitchFamily="-65" charset="-128"/>
        </a:defRPr>
      </a:lvl1pPr>
      <a:lvl2pPr marL="3406235" indent="-1309588" algn="l" defTabSz="4191661" rtl="0" eaLnBrk="0" fontAlgn="base" hangingPunct="0">
        <a:spcBef>
          <a:spcPct val="20000"/>
        </a:spcBef>
        <a:spcAft>
          <a:spcPct val="0"/>
        </a:spcAft>
        <a:buChar char="–"/>
        <a:defRPr sz="12857">
          <a:solidFill>
            <a:schemeClr val="tx1"/>
          </a:solidFill>
          <a:latin typeface="+mn-lt"/>
          <a:ea typeface="MS PGothic" pitchFamily="34" charset="-128"/>
        </a:defRPr>
      </a:lvl2pPr>
      <a:lvl3pPr marL="5239985" indent="-1048323" algn="l" defTabSz="4191661" rtl="0" eaLnBrk="0" fontAlgn="base" hangingPunct="0">
        <a:spcBef>
          <a:spcPct val="20000"/>
        </a:spcBef>
        <a:spcAft>
          <a:spcPct val="0"/>
        </a:spcAft>
        <a:buChar char="•"/>
        <a:defRPr sz="11006">
          <a:solidFill>
            <a:schemeClr val="tx1"/>
          </a:solidFill>
          <a:latin typeface="+mn-lt"/>
          <a:ea typeface="MS PGothic" pitchFamily="34" charset="-128"/>
        </a:defRPr>
      </a:lvl3pPr>
      <a:lvl4pPr marL="7336631" indent="-1048323" algn="l" defTabSz="4191661" rtl="0" eaLnBrk="0" fontAlgn="base" hangingPunct="0">
        <a:spcBef>
          <a:spcPct val="20000"/>
        </a:spcBef>
        <a:spcAft>
          <a:spcPct val="0"/>
        </a:spcAft>
        <a:buChar char="–"/>
        <a:defRPr sz="9155">
          <a:solidFill>
            <a:schemeClr val="tx1"/>
          </a:solidFill>
          <a:latin typeface="+mn-lt"/>
          <a:ea typeface="MS PGothic" pitchFamily="34" charset="-128"/>
        </a:defRPr>
      </a:lvl4pPr>
      <a:lvl5pPr marL="9431645" indent="-1046691" algn="l" defTabSz="4191661" rtl="0" eaLnBrk="0" fontAlgn="base" hangingPunct="0">
        <a:spcBef>
          <a:spcPct val="20000"/>
        </a:spcBef>
        <a:spcAft>
          <a:spcPct val="0"/>
        </a:spcAft>
        <a:buChar char="»"/>
        <a:defRPr sz="9155">
          <a:solidFill>
            <a:schemeClr val="tx1"/>
          </a:solidFill>
          <a:latin typeface="+mn-lt"/>
          <a:ea typeface="MS PGothic" pitchFamily="34" charset="-128"/>
        </a:defRPr>
      </a:lvl5pPr>
      <a:lvl6pPr marL="9901921" indent="-1046691" algn="l" defTabSz="4191661" rtl="0" fontAlgn="base">
        <a:spcBef>
          <a:spcPct val="20000"/>
        </a:spcBef>
        <a:spcAft>
          <a:spcPct val="0"/>
        </a:spcAft>
        <a:buChar char="»"/>
        <a:defRPr sz="9155">
          <a:solidFill>
            <a:schemeClr val="tx1"/>
          </a:solidFill>
          <a:latin typeface="+mn-lt"/>
          <a:ea typeface="ＭＳ Ｐゴシック" pitchFamily="-65" charset="-128"/>
        </a:defRPr>
      </a:lvl6pPr>
      <a:lvl7pPr marL="10372197" indent="-1046691" algn="l" defTabSz="4191661" rtl="0" fontAlgn="base">
        <a:spcBef>
          <a:spcPct val="20000"/>
        </a:spcBef>
        <a:spcAft>
          <a:spcPct val="0"/>
        </a:spcAft>
        <a:buChar char="»"/>
        <a:defRPr sz="9155">
          <a:solidFill>
            <a:schemeClr val="tx1"/>
          </a:solidFill>
          <a:latin typeface="+mn-lt"/>
          <a:ea typeface="ＭＳ Ｐゴシック" pitchFamily="-65" charset="-128"/>
        </a:defRPr>
      </a:lvl7pPr>
      <a:lvl8pPr marL="10842473" indent="-1046691" algn="l" defTabSz="4191661" rtl="0" fontAlgn="base">
        <a:spcBef>
          <a:spcPct val="20000"/>
        </a:spcBef>
        <a:spcAft>
          <a:spcPct val="0"/>
        </a:spcAft>
        <a:buChar char="»"/>
        <a:defRPr sz="9155">
          <a:solidFill>
            <a:schemeClr val="tx1"/>
          </a:solidFill>
          <a:latin typeface="+mn-lt"/>
          <a:ea typeface="ＭＳ Ｐゴシック" pitchFamily="-65" charset="-128"/>
        </a:defRPr>
      </a:lvl8pPr>
      <a:lvl9pPr marL="11312749" indent="-1046691" algn="l" defTabSz="4191661" rtl="0" fontAlgn="base">
        <a:spcBef>
          <a:spcPct val="20000"/>
        </a:spcBef>
        <a:spcAft>
          <a:spcPct val="0"/>
        </a:spcAft>
        <a:buChar char="»"/>
        <a:defRPr sz="9155">
          <a:solidFill>
            <a:schemeClr val="tx1"/>
          </a:solidFill>
          <a:latin typeface="+mn-lt"/>
          <a:ea typeface="ＭＳ Ｐゴシック" pitchFamily="-65" charset="-128"/>
        </a:defRPr>
      </a:lvl9pPr>
    </p:bodyStyle>
    <p:otherStyle>
      <a:defPPr>
        <a:defRPr lang="en-US"/>
      </a:defPPr>
      <a:lvl1pPr marL="0" algn="l" defTabSz="470276" rtl="0" eaLnBrk="1" latinLnBrk="0" hangingPunct="1">
        <a:defRPr sz="1851" kern="1200">
          <a:solidFill>
            <a:schemeClr val="tx1"/>
          </a:solidFill>
          <a:latin typeface="+mn-lt"/>
          <a:ea typeface="+mn-ea"/>
          <a:cs typeface="+mn-cs"/>
        </a:defRPr>
      </a:lvl1pPr>
      <a:lvl2pPr marL="470276" algn="l" defTabSz="470276" rtl="0" eaLnBrk="1" latinLnBrk="0" hangingPunct="1">
        <a:defRPr sz="1851" kern="1200">
          <a:solidFill>
            <a:schemeClr val="tx1"/>
          </a:solidFill>
          <a:latin typeface="+mn-lt"/>
          <a:ea typeface="+mn-ea"/>
          <a:cs typeface="+mn-cs"/>
        </a:defRPr>
      </a:lvl2pPr>
      <a:lvl3pPr marL="940552" algn="l" defTabSz="470276" rtl="0" eaLnBrk="1" latinLnBrk="0" hangingPunct="1">
        <a:defRPr sz="1851" kern="1200">
          <a:solidFill>
            <a:schemeClr val="tx1"/>
          </a:solidFill>
          <a:latin typeface="+mn-lt"/>
          <a:ea typeface="+mn-ea"/>
          <a:cs typeface="+mn-cs"/>
        </a:defRPr>
      </a:lvl3pPr>
      <a:lvl4pPr marL="1410828" algn="l" defTabSz="470276" rtl="0" eaLnBrk="1" latinLnBrk="0" hangingPunct="1">
        <a:defRPr sz="1851" kern="1200">
          <a:solidFill>
            <a:schemeClr val="tx1"/>
          </a:solidFill>
          <a:latin typeface="+mn-lt"/>
          <a:ea typeface="+mn-ea"/>
          <a:cs typeface="+mn-cs"/>
        </a:defRPr>
      </a:lvl4pPr>
      <a:lvl5pPr marL="1881104" algn="l" defTabSz="470276" rtl="0" eaLnBrk="1" latinLnBrk="0" hangingPunct="1">
        <a:defRPr sz="1851" kern="1200">
          <a:solidFill>
            <a:schemeClr val="tx1"/>
          </a:solidFill>
          <a:latin typeface="+mn-lt"/>
          <a:ea typeface="+mn-ea"/>
          <a:cs typeface="+mn-cs"/>
        </a:defRPr>
      </a:lvl5pPr>
      <a:lvl6pPr marL="2351380" algn="l" defTabSz="470276" rtl="0" eaLnBrk="1" latinLnBrk="0" hangingPunct="1">
        <a:defRPr sz="1851" kern="1200">
          <a:solidFill>
            <a:schemeClr val="tx1"/>
          </a:solidFill>
          <a:latin typeface="+mn-lt"/>
          <a:ea typeface="+mn-ea"/>
          <a:cs typeface="+mn-cs"/>
        </a:defRPr>
      </a:lvl6pPr>
      <a:lvl7pPr marL="2821656" algn="l" defTabSz="470276" rtl="0" eaLnBrk="1" latinLnBrk="0" hangingPunct="1">
        <a:defRPr sz="1851" kern="1200">
          <a:solidFill>
            <a:schemeClr val="tx1"/>
          </a:solidFill>
          <a:latin typeface="+mn-lt"/>
          <a:ea typeface="+mn-ea"/>
          <a:cs typeface="+mn-cs"/>
        </a:defRPr>
      </a:lvl7pPr>
      <a:lvl8pPr marL="3291931" algn="l" defTabSz="470276" rtl="0" eaLnBrk="1" latinLnBrk="0" hangingPunct="1">
        <a:defRPr sz="1851" kern="1200">
          <a:solidFill>
            <a:schemeClr val="tx1"/>
          </a:solidFill>
          <a:latin typeface="+mn-lt"/>
          <a:ea typeface="+mn-ea"/>
          <a:cs typeface="+mn-cs"/>
        </a:defRPr>
      </a:lvl8pPr>
      <a:lvl9pPr marL="3762207" algn="l" defTabSz="470276" rtl="0" eaLnBrk="1" latinLnBrk="0" hangingPunct="1">
        <a:defRPr sz="18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60"/>
          <p:cNvSpPr>
            <a:spLocks noChangeArrowheads="1"/>
          </p:cNvSpPr>
          <p:nvPr/>
        </p:nvSpPr>
        <p:spPr bwMode="auto">
          <a:xfrm>
            <a:off x="0" y="0"/>
            <a:ext cx="43891200" cy="32918400"/>
          </a:xfrm>
          <a:prstGeom prst="rect">
            <a:avLst/>
          </a:prstGeom>
          <a:solidFill>
            <a:srgbClr val="191919">
              <a:alpha val="7843"/>
            </a:srgbClr>
          </a:solidFill>
          <a:ln w="9525">
            <a:solidFill>
              <a:srgbClr val="D8D8D8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US" sz="3292">
              <a:solidFill>
                <a:srgbClr val="FFFFFF"/>
              </a:solidFill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051" name="Text Box 7"/>
          <p:cNvSpPr txBox="1">
            <a:spLocks noChangeArrowheads="1"/>
          </p:cNvSpPr>
          <p:nvPr/>
        </p:nvSpPr>
        <p:spPr bwMode="auto">
          <a:xfrm>
            <a:off x="1022168" y="7106194"/>
            <a:ext cx="10048603" cy="5261066"/>
          </a:xfrm>
          <a:prstGeom prst="rect">
            <a:avLst/>
          </a:prstGeom>
          <a:solidFill>
            <a:schemeClr val="bg1"/>
          </a:solidFill>
          <a:ln w="38100">
            <a:solidFill>
              <a:srgbClr val="000000"/>
            </a:solidFill>
            <a:round/>
            <a:headEnd/>
            <a:tailEnd/>
          </a:ln>
        </p:spPr>
        <p:txBody>
          <a:bodyPr lIns="940526" tIns="470263" rIns="940526" bIns="940526"/>
          <a:lstStyle>
            <a:lvl1pPr eaLnBrk="0" hangingPunct="0">
              <a:spcBef>
                <a:spcPct val="20000"/>
              </a:spcBef>
              <a:buChar char="•"/>
              <a:tabLst>
                <a:tab pos="500063" algn="l"/>
              </a:tabLst>
              <a:defRPr sz="143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tabLst>
                <a:tab pos="500063" algn="l"/>
              </a:tabLst>
              <a:defRPr sz="125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tabLst>
                <a:tab pos="500063" algn="l"/>
              </a:tabLst>
              <a:defRPr sz="107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tabLst>
                <a:tab pos="500063" algn="l"/>
              </a:tabLst>
              <a:defRPr sz="89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tabLst>
                <a:tab pos="500063" algn="l"/>
              </a:tabLst>
              <a:defRPr sz="89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00063" algn="l"/>
              </a:tabLst>
              <a:defRPr sz="89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00063" algn="l"/>
              </a:tabLst>
              <a:defRPr sz="89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00063" algn="l"/>
              </a:tabLst>
              <a:defRPr sz="89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00063" algn="l"/>
              </a:tabLst>
              <a:defRPr sz="89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lang="en-US" alt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Abstract</a:t>
            </a:r>
          </a:p>
          <a:p>
            <a:pPr algn="just">
              <a:buNone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We study whether changes in contact-network topology predict transitions into high-risk epidemic periods across several classical empirical proximity network datasets. We use temporal graph learning with persistent homology-based topological signals and evaluate large-outbreak risk using SIR simulations to test whether topological drift serves as an early warning signal for epidemic instability.</a:t>
            </a:r>
          </a:p>
          <a:p>
            <a:pPr eaLnBrk="1" hangingPunct="1">
              <a:spcBef>
                <a:spcPct val="10000"/>
              </a:spcBef>
              <a:buFontTx/>
              <a:buNone/>
            </a:pPr>
            <a:r>
              <a:rPr lang="en-US" altLang="en-US" sz="2880" dirty="0">
                <a:cs typeface="Arial" panose="020B0604020202020204" pitchFamily="34" charset="0"/>
              </a:rPr>
              <a:t>		</a:t>
            </a:r>
            <a:endParaRPr lang="en-US" altLang="en-US" sz="2880" i="1" dirty="0">
              <a:solidFill>
                <a:schemeClr val="accent2"/>
              </a:solidFill>
              <a:cs typeface="Arial" panose="020B0604020202020204" pitchFamily="34" charset="0"/>
            </a:endParaRPr>
          </a:p>
          <a:p>
            <a:pPr eaLnBrk="1" hangingPunct="1">
              <a:spcBef>
                <a:spcPct val="10000"/>
              </a:spcBef>
              <a:buFontTx/>
              <a:buNone/>
            </a:pPr>
            <a:endParaRPr lang="en-US" altLang="en-US" sz="2880" dirty="0">
              <a:cs typeface="Arial" panose="020B0604020202020204" pitchFamily="34" charset="0"/>
            </a:endParaRPr>
          </a:p>
        </p:txBody>
      </p:sp>
      <p:sp>
        <p:nvSpPr>
          <p:cNvPr id="2052" name="Text Box 11"/>
          <p:cNvSpPr txBox="1">
            <a:spLocks noChangeArrowheads="1"/>
          </p:cNvSpPr>
          <p:nvPr/>
        </p:nvSpPr>
        <p:spPr bwMode="auto">
          <a:xfrm>
            <a:off x="1022168" y="13274764"/>
            <a:ext cx="10048603" cy="7276377"/>
          </a:xfrm>
          <a:prstGeom prst="rect">
            <a:avLst/>
          </a:prstGeom>
          <a:solidFill>
            <a:schemeClr val="bg1"/>
          </a:solidFill>
          <a:ln w="38100">
            <a:solidFill>
              <a:srgbClr val="000000"/>
            </a:solidFill>
            <a:round/>
            <a:headEnd/>
            <a:tailEnd/>
          </a:ln>
        </p:spPr>
        <p:txBody>
          <a:bodyPr lIns="940526" tIns="470263" rIns="940526" bIns="940526" numCol="2"/>
          <a:lstStyle>
            <a:lvl1pPr eaLnBrk="0" hangingPunct="0">
              <a:spcBef>
                <a:spcPct val="20000"/>
              </a:spcBef>
              <a:buChar char="•"/>
              <a:tabLst>
                <a:tab pos="508000" algn="l"/>
              </a:tabLst>
              <a:defRPr sz="143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tabLst>
                <a:tab pos="508000" algn="l"/>
              </a:tabLst>
              <a:defRPr sz="125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tabLst>
                <a:tab pos="508000" algn="l"/>
              </a:tabLst>
              <a:defRPr sz="107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tabLst>
                <a:tab pos="508000" algn="l"/>
              </a:tabLst>
              <a:defRPr sz="89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tabLst>
                <a:tab pos="508000" algn="l"/>
              </a:tabLst>
              <a:defRPr sz="89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08000" algn="l"/>
              </a:tabLst>
              <a:defRPr sz="89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08000" algn="l"/>
              </a:tabLst>
              <a:defRPr sz="89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08000" algn="l"/>
              </a:tabLst>
              <a:defRPr sz="89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08000" algn="l"/>
              </a:tabLst>
              <a:defRPr sz="89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4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Setting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 u="sng" dirty="0">
                <a:latin typeface="Arial" panose="020B0604020202020204" pitchFamily="34" charset="0"/>
                <a:cs typeface="Arial" panose="020B0604020202020204" pitchFamily="34" charset="0"/>
              </a:rPr>
              <a:t>Datasets</a:t>
            </a:r>
          </a:p>
          <a:p>
            <a:pPr marL="514350" indent="-514350" eaLnBrk="1" hangingPunct="1">
              <a:spcBef>
                <a:spcPct val="50000"/>
              </a:spcBef>
              <a:buFont typeface="+mj-lt"/>
              <a:buAutoNum type="arabicPeriod"/>
            </a:pPr>
            <a:r>
              <a:rPr lang="en-US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Thiers13: 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French high school proximity network, partitioned into </a:t>
            </a:r>
            <a:r>
              <a:rPr lang="en-US" alt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45-minute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windows [3].</a:t>
            </a:r>
          </a:p>
          <a:p>
            <a:pPr marL="514350" indent="-514350" eaLnBrk="1" hangingPunct="1">
              <a:spcBef>
                <a:spcPct val="50000"/>
              </a:spcBef>
              <a:buFont typeface="+mj-lt"/>
              <a:buAutoNum type="arabicPeriod"/>
            </a:pPr>
            <a:r>
              <a:rPr lang="en-US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LyonSchool: 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primary school  teacher-student proximity network, partitioned into </a:t>
            </a:r>
            <a:r>
              <a:rPr lang="en-US" alt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45-minute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windows [6].        </a:t>
            </a:r>
          </a:p>
          <a:p>
            <a:pPr marL="514350" indent="-514350" eaLnBrk="1" hangingPunct="1">
              <a:spcBef>
                <a:spcPct val="50000"/>
              </a:spcBef>
              <a:buFont typeface="+mj-lt"/>
              <a:buAutoNum type="arabicPeriod"/>
            </a:pPr>
            <a:r>
              <a:rPr lang="en-US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InVS15: 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office contact network, partitioned into </a:t>
            </a:r>
            <a:r>
              <a:rPr lang="en-US" alt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1-hour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windows [5].</a:t>
            </a:r>
          </a:p>
          <a:p>
            <a:pPr marL="514350" indent="-514350" eaLnBrk="1" hangingPunct="1">
              <a:spcBef>
                <a:spcPct val="50000"/>
              </a:spcBef>
              <a:buFont typeface="+mj-lt"/>
              <a:buAutoNum type="arabicPeriod"/>
            </a:pPr>
            <a:r>
              <a:rPr lang="en-US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LH10: 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patient and healthcare-worker contact network, partitioned into </a:t>
            </a:r>
            <a:r>
              <a:rPr lang="en-US" alt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4-hour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windows [4].        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4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Methodology¹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 u="sng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Datasets</a:t>
            </a:r>
            <a:endParaRPr lang="en-US" altLang="en-US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 eaLnBrk="1" hangingPunct="1">
              <a:spcBef>
                <a:spcPct val="50000"/>
              </a:spcBef>
              <a:buFont typeface="+mj-lt"/>
              <a:buAutoNum type="arabicPeriod" startAt="5"/>
            </a:pPr>
            <a:r>
              <a:rPr lang="en-US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HT2009: 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conference attendee proximity network, partitioned into </a:t>
            </a:r>
            <a:r>
              <a:rPr lang="en-US" alt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30-minute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windows [5].        </a:t>
            </a:r>
          </a:p>
          <a:p>
            <a:pPr marL="514350" indent="-514350" eaLnBrk="1" hangingPunct="1">
              <a:spcBef>
                <a:spcPct val="50000"/>
              </a:spcBef>
              <a:buFont typeface="+mj-lt"/>
              <a:buAutoNum type="arabicPeriod" startAt="5"/>
            </a:pPr>
            <a:r>
              <a:rPr lang="en-US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“Infectious” Exhibition: 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Science Gallery exhibit crowd interaction network, partitioned into 24-hour windows [5].</a:t>
            </a:r>
          </a:p>
          <a:p>
            <a:pPr marL="514350" indent="-514350" eaLnBrk="1" hangingPunct="1">
              <a:spcBef>
                <a:spcPct val="50000"/>
              </a:spcBef>
              <a:buFont typeface="+mj-lt"/>
              <a:buAutoNum type="arabicPeriod" startAt="5"/>
            </a:pPr>
            <a:r>
              <a:rPr lang="en-US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SCC2034: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Kenyan household proximity network, partitioned into </a:t>
            </a:r>
            <a:r>
              <a:rPr lang="en-US" alt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24-hour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windows [2].        </a:t>
            </a:r>
          </a:p>
          <a:p>
            <a:pPr marL="514350" indent="-514350" eaLnBrk="1" hangingPunct="1">
              <a:spcBef>
                <a:spcPct val="50000"/>
              </a:spcBef>
              <a:buFont typeface="+mj-lt"/>
              <a:buAutoNum type="arabicPeriod" startAt="5"/>
            </a:pPr>
            <a:r>
              <a:rPr lang="en-US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Malawi: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rural Malawi village proximity network, partitioned into 24-hour windows [1].</a:t>
            </a:r>
            <a:r>
              <a:rPr lang="en-US" alt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</a:p>
        </p:txBody>
      </p:sp>
      <p:sp>
        <p:nvSpPr>
          <p:cNvPr id="2053" name="Text Box 16"/>
          <p:cNvSpPr txBox="1">
            <a:spLocks noChangeArrowheads="1"/>
          </p:cNvSpPr>
          <p:nvPr/>
        </p:nvSpPr>
        <p:spPr bwMode="auto">
          <a:xfrm>
            <a:off x="33448666" y="19441885"/>
            <a:ext cx="10048603" cy="12509863"/>
          </a:xfrm>
          <a:prstGeom prst="rect">
            <a:avLst/>
          </a:prstGeom>
          <a:solidFill>
            <a:schemeClr val="bg1"/>
          </a:solidFill>
          <a:ln w="38100">
            <a:solidFill>
              <a:srgbClr val="000000"/>
            </a:solidFill>
            <a:round/>
            <a:headEnd/>
            <a:tailEnd/>
          </a:ln>
        </p:spPr>
        <p:txBody>
          <a:bodyPr lIns="940526" tIns="470263" rIns="940526" bIns="940526"/>
          <a:lstStyle>
            <a:lvl1pPr eaLnBrk="0" hangingPunct="0">
              <a:spcBef>
                <a:spcPct val="20000"/>
              </a:spcBef>
              <a:buChar char="•"/>
              <a:defRPr sz="143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125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107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89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89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9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9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9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9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4526" b="1" dirty="0">
                <a:solidFill>
                  <a:srgbClr val="000000"/>
                </a:solidFill>
                <a:latin typeface="Calibri" panose="020F0502020204030204" pitchFamily="34" charset="0"/>
              </a:rPr>
              <a:t>Code</a:t>
            </a:r>
          </a:p>
          <a:p>
            <a:pPr eaLnBrk="1" hangingPunct="1">
              <a:spcBef>
                <a:spcPct val="10000"/>
              </a:spcBef>
              <a:buFontTx/>
              <a:buNone/>
            </a:pPr>
            <a:r>
              <a:rPr lang="en-US" altLang="en-US" sz="2880" dirty="0"/>
              <a:t>Blah, blah, blah. This file from http://colinpurrington.com/tips/academic/posterdesign</a:t>
            </a:r>
            <a:r>
              <a:rPr lang="en-US" altLang="en-US" sz="2880" dirty="0">
                <a:solidFill>
                  <a:srgbClr val="000000"/>
                </a:solidFill>
                <a:latin typeface="Calibri" panose="020F0502020204030204" pitchFamily="34" charset="0"/>
              </a:rPr>
              <a:t>.  </a:t>
            </a:r>
            <a:r>
              <a:rPr lang="en-US" altLang="en-US" sz="2880" dirty="0"/>
              <a:t>You can erase that URL, of course. </a:t>
            </a:r>
          </a:p>
        </p:txBody>
      </p:sp>
      <p:sp>
        <p:nvSpPr>
          <p:cNvPr id="2054" name="Text Box 12"/>
          <p:cNvSpPr txBox="1">
            <a:spLocks noChangeArrowheads="1"/>
          </p:cNvSpPr>
          <p:nvPr/>
        </p:nvSpPr>
        <p:spPr bwMode="auto">
          <a:xfrm>
            <a:off x="11336928" y="7106194"/>
            <a:ext cx="21717808" cy="24845554"/>
          </a:xfrm>
          <a:prstGeom prst="rect">
            <a:avLst/>
          </a:prstGeom>
          <a:solidFill>
            <a:schemeClr val="bg1"/>
          </a:solidFill>
          <a:ln w="38100">
            <a:solidFill>
              <a:srgbClr val="000000"/>
            </a:solidFill>
            <a:round/>
            <a:headEnd/>
            <a:tailEnd/>
          </a:ln>
        </p:spPr>
        <p:txBody>
          <a:bodyPr lIns="940526" tIns="470263" rIns="940526" bIns="940526" numCol="3"/>
          <a:lstStyle>
            <a:lvl1pPr eaLnBrk="0" hangingPunct="0">
              <a:spcBef>
                <a:spcPct val="20000"/>
              </a:spcBef>
              <a:buChar char="•"/>
              <a:tabLst>
                <a:tab pos="500063" algn="l"/>
              </a:tabLst>
              <a:defRPr sz="143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tabLst>
                <a:tab pos="500063" algn="l"/>
              </a:tabLst>
              <a:defRPr sz="125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tabLst>
                <a:tab pos="500063" algn="l"/>
              </a:tabLst>
              <a:defRPr sz="107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tabLst>
                <a:tab pos="500063" algn="l"/>
              </a:tabLst>
              <a:defRPr sz="89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tabLst>
                <a:tab pos="500063" algn="l"/>
              </a:tabLst>
              <a:defRPr sz="89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00063" algn="l"/>
              </a:tabLst>
              <a:defRPr sz="89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00063" algn="l"/>
              </a:tabLst>
              <a:defRPr sz="89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00063" algn="l"/>
              </a:tabLst>
              <a:defRPr sz="89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00063" algn="l"/>
              </a:tabLst>
              <a:defRPr sz="89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4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</a:p>
          <a:p>
            <a:pPr algn="just"/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Provide the results of your research in this section. </a:t>
            </a:r>
          </a:p>
          <a:p>
            <a:pPr algn="just"/>
            <a:endParaRPr lang="en-US" altLang="en-US" sz="3292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55" name="Text Box 13"/>
          <p:cNvSpPr txBox="1">
            <a:spLocks noChangeArrowheads="1"/>
          </p:cNvSpPr>
          <p:nvPr/>
        </p:nvSpPr>
        <p:spPr bwMode="auto">
          <a:xfrm>
            <a:off x="33448666" y="7106195"/>
            <a:ext cx="10048603" cy="5261066"/>
          </a:xfrm>
          <a:prstGeom prst="rect">
            <a:avLst/>
          </a:prstGeom>
          <a:solidFill>
            <a:schemeClr val="bg1"/>
          </a:solidFill>
          <a:ln w="38100">
            <a:solidFill>
              <a:srgbClr val="000000"/>
            </a:solidFill>
            <a:round/>
            <a:headEnd/>
            <a:tailEnd/>
          </a:ln>
        </p:spPr>
        <p:txBody>
          <a:bodyPr lIns="940526" tIns="470263" rIns="940526" bIns="940526"/>
          <a:lstStyle>
            <a:lvl1pPr eaLnBrk="0" hangingPunct="0">
              <a:spcBef>
                <a:spcPct val="20000"/>
              </a:spcBef>
              <a:buChar char="•"/>
              <a:tabLst>
                <a:tab pos="635000" algn="l"/>
              </a:tabLst>
              <a:defRPr sz="143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tabLst>
                <a:tab pos="635000" algn="l"/>
              </a:tabLst>
              <a:defRPr sz="125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tabLst>
                <a:tab pos="635000" algn="l"/>
              </a:tabLst>
              <a:defRPr sz="107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tabLst>
                <a:tab pos="635000" algn="l"/>
              </a:tabLst>
              <a:defRPr sz="89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tabLst>
                <a:tab pos="635000" algn="l"/>
              </a:tabLst>
              <a:defRPr sz="89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35000" algn="l"/>
              </a:tabLst>
              <a:defRPr sz="89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35000" algn="l"/>
              </a:tabLst>
              <a:defRPr sz="89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35000" algn="l"/>
              </a:tabLst>
              <a:defRPr sz="89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35000" algn="l"/>
              </a:tabLst>
              <a:defRPr sz="89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4526" b="1" dirty="0">
                <a:solidFill>
                  <a:srgbClr val="000000"/>
                </a:solidFill>
                <a:latin typeface="Calibri" panose="020F0502020204030204" pitchFamily="34" charset="0"/>
              </a:rPr>
              <a:t>Conclusions</a:t>
            </a:r>
          </a:p>
          <a:p>
            <a:pPr algn="just">
              <a:buFontTx/>
              <a:buNone/>
            </a:pPr>
            <a:r>
              <a:rPr lang="en-US" altLang="en-US" sz="2880" dirty="0"/>
              <a:t>Briefly review your research questions and the results of your research.</a:t>
            </a:r>
          </a:p>
        </p:txBody>
      </p:sp>
      <p:sp>
        <p:nvSpPr>
          <p:cNvPr id="2056" name="Text Box 14"/>
          <p:cNvSpPr txBox="1">
            <a:spLocks noChangeArrowheads="1"/>
          </p:cNvSpPr>
          <p:nvPr/>
        </p:nvSpPr>
        <p:spPr bwMode="auto">
          <a:xfrm>
            <a:off x="-2594609" y="4333940"/>
            <a:ext cx="49064091" cy="25237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282158" tIns="282158" rIns="282158" bIns="282158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143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125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107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89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89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9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9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9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9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spcAft>
                <a:spcPts val="617"/>
              </a:spcAft>
              <a:buNone/>
            </a:pPr>
            <a:r>
              <a:rPr lang="en-US" altLang="en-US" sz="6172" b="1" dirty="0">
                <a:latin typeface="Calibri" panose="020F0502020204030204" pitchFamily="34" charset="0"/>
              </a:rPr>
              <a:t>Charles Fanning</a:t>
            </a:r>
            <a:br>
              <a:rPr lang="en-US" altLang="en-US" sz="6172" b="1" dirty="0">
                <a:latin typeface="Calibri" panose="020F0502020204030204" pitchFamily="34" charset="0"/>
              </a:rPr>
            </a:br>
            <a:r>
              <a:rPr lang="en-US" altLang="en-US" sz="6172" b="1" dirty="0">
                <a:latin typeface="Calibri" panose="020F0502020204030204" pitchFamily="34" charset="0"/>
              </a:rPr>
              <a:t>Advisor: Dr. Mehmet Aktas</a:t>
            </a:r>
            <a:endParaRPr lang="en-US" altLang="en-US" sz="6172" dirty="0">
              <a:latin typeface="Calibri" panose="020F0502020204030204" pitchFamily="34" charset="0"/>
            </a:endParaRPr>
          </a:p>
        </p:txBody>
      </p:sp>
      <p:sp>
        <p:nvSpPr>
          <p:cNvPr id="2057" name="Text Box 15"/>
          <p:cNvSpPr txBox="1">
            <a:spLocks noChangeArrowheads="1"/>
          </p:cNvSpPr>
          <p:nvPr/>
        </p:nvSpPr>
        <p:spPr bwMode="auto">
          <a:xfrm>
            <a:off x="33450297" y="13279303"/>
            <a:ext cx="10047086" cy="5239838"/>
          </a:xfrm>
          <a:prstGeom prst="rect">
            <a:avLst/>
          </a:prstGeom>
          <a:solidFill>
            <a:schemeClr val="bg1"/>
          </a:solidFill>
          <a:ln w="38100">
            <a:solidFill>
              <a:srgbClr val="000000"/>
            </a:solidFill>
            <a:round/>
            <a:headEnd/>
            <a:tailEnd/>
          </a:ln>
        </p:spPr>
        <p:txBody>
          <a:bodyPr lIns="940526" tIns="470263" rIns="940526" bIns="940526" numCol="1"/>
          <a:lstStyle>
            <a:lvl1pPr marL="500063" indent="-500063" eaLnBrk="0" hangingPunct="0">
              <a:spcBef>
                <a:spcPct val="20000"/>
              </a:spcBef>
              <a:buChar char="•"/>
              <a:defRPr sz="143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125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107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89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89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9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9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9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9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</a:p>
          <a:p>
            <a:pPr marL="342900" indent="-342900" eaLnBrk="1" hangingPunct="1">
              <a:spcBef>
                <a:spcPct val="0"/>
              </a:spcBef>
              <a:buFont typeface="+mj-lt"/>
              <a:buAutoNum type="arabicPeriod"/>
            </a:pP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L. Ozella et al. (2021). Using wearable proximity sensors to characterize social contact patterns in a village of rural Malawi. </a:t>
            </a:r>
            <a:r>
              <a:rPr lang="en-US" alt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EPJ Data Science</a:t>
            </a: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10(1):46.</a:t>
            </a:r>
          </a:p>
          <a:p>
            <a:pPr marL="342900" indent="-342900" eaLnBrk="1" hangingPunct="1">
              <a:spcBef>
                <a:spcPct val="0"/>
              </a:spcBef>
              <a:buFont typeface="+mj-lt"/>
              <a:buAutoNum type="arabicPeriod"/>
            </a:pP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M. C. Kiti et al. (2016). Quantifying social contacts in a household setting of rural Kenya using wearable proximity sensors </a:t>
            </a:r>
            <a:r>
              <a:rPr lang="en-US" alt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EPJ Data Science</a:t>
            </a: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5(1):21.</a:t>
            </a:r>
          </a:p>
          <a:p>
            <a:pPr marL="342900" indent="-342900" eaLnBrk="1" hangingPunct="1">
              <a:spcBef>
                <a:spcPct val="0"/>
              </a:spcBef>
              <a:buFont typeface="+mj-lt"/>
              <a:buAutoNum type="arabicPeriod"/>
            </a:pP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R. Mastrandrea, J. Fournet, and A. Barrat (2015). Contact patterns in a high school: a comparison between data collected using wearable sensors, contact diaries and friendship surveys. PLOS ONE</a:t>
            </a:r>
          </a:p>
          <a:p>
            <a:pPr marL="342900" indent="-342900" eaLnBrk="1" hangingPunct="1">
              <a:spcBef>
                <a:spcPct val="0"/>
              </a:spcBef>
              <a:buFont typeface="+mj-lt"/>
              <a:buAutoNum type="arabicPeriod"/>
            </a:pP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P. </a:t>
            </a:r>
            <a:r>
              <a:rPr lang="en-US" alt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Vanhems</a:t>
            </a: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et al. (2013). Estimating potential infection transmission routes in hospital wards using wearable proximity sensors. </a:t>
            </a:r>
            <a:r>
              <a:rPr lang="en-US" alt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PLOS ONE</a:t>
            </a: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8(9):e73970. doi:10.1371/journal.pone.0073970.</a:t>
            </a:r>
          </a:p>
          <a:p>
            <a:pPr marL="342900" indent="-342900" eaLnBrk="1" hangingPunct="1">
              <a:spcBef>
                <a:spcPct val="0"/>
              </a:spcBef>
              <a:buFont typeface="+mj-lt"/>
              <a:buAutoNum type="arabicPeriod"/>
            </a:pP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L. Isella, J. </a:t>
            </a:r>
            <a:r>
              <a:rPr lang="en-US" alt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Stehlé</a:t>
            </a: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A. Barrat, C. </a:t>
            </a:r>
            <a:r>
              <a:rPr lang="en-US" alt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Cattuto</a:t>
            </a: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J.-F. </a:t>
            </a:r>
            <a:r>
              <a:rPr lang="en-US" alt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Pinton</a:t>
            </a: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and W. Van den Broeck (2011). What's in a crowd? Analysis of face-to-face behavioral networks. </a:t>
            </a:r>
            <a:r>
              <a:rPr lang="en-US" alt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Journal of Theoretical Biology</a:t>
            </a: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271(1):166--180.</a:t>
            </a:r>
          </a:p>
          <a:p>
            <a:pPr marL="342900" indent="-342900" eaLnBrk="1" hangingPunct="1">
              <a:spcBef>
                <a:spcPct val="0"/>
              </a:spcBef>
              <a:buFont typeface="+mj-lt"/>
              <a:buAutoNum type="arabicPeriod"/>
            </a:pP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J. </a:t>
            </a:r>
            <a:r>
              <a:rPr lang="en-US" alt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Stehlé</a:t>
            </a: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et al. (2011). High-resolution measurements of face-to-face contact patterns in a primary school. \</a:t>
            </a:r>
            <a:r>
              <a:rPr lang="en-US" alt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textit</a:t>
            </a: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{PLOS ONE}, 6(8):e23176.</a:t>
            </a:r>
          </a:p>
        </p:txBody>
      </p:sp>
      <p:sp>
        <p:nvSpPr>
          <p:cNvPr id="2" name="Rectangle 180"/>
          <p:cNvSpPr>
            <a:spLocks noChangeArrowheads="1"/>
          </p:cNvSpPr>
          <p:nvPr/>
        </p:nvSpPr>
        <p:spPr bwMode="auto">
          <a:xfrm>
            <a:off x="7700556" y="1846217"/>
            <a:ext cx="29651161" cy="18335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en-US" sz="11315" b="1" dirty="0">
                <a:ln>
                  <a:solidFill>
                    <a:schemeClr val="bg1"/>
                  </a:solidFill>
                </a:ln>
                <a:latin typeface="Calibri"/>
                <a:ea typeface="ＭＳ Ｐゴシック" charset="0"/>
                <a:cs typeface="Calibri"/>
              </a:rPr>
              <a:t>Topological Drift Predicts Epidemic Instability</a:t>
            </a:r>
          </a:p>
        </p:txBody>
      </p:sp>
      <p:sp>
        <p:nvSpPr>
          <p:cNvPr id="13" name="Text Box 19"/>
          <p:cNvSpPr txBox="1">
            <a:spLocks noChangeArrowheads="1"/>
          </p:cNvSpPr>
          <p:nvPr/>
        </p:nvSpPr>
        <p:spPr bwMode="auto">
          <a:xfrm>
            <a:off x="1288325" y="1377484"/>
            <a:ext cx="6412231" cy="188105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23444" tIns="61723" rIns="123444" bIns="61723"/>
          <a:lstStyle>
            <a:lvl1pPr defTabSz="3343275">
              <a:defRPr>
                <a:solidFill>
                  <a:schemeClr val="tx1"/>
                </a:solidFill>
                <a:latin typeface="Arial" charset="0"/>
              </a:defRPr>
            </a:lvl1pPr>
            <a:lvl2pPr defTabSz="3343275">
              <a:defRPr>
                <a:solidFill>
                  <a:schemeClr val="tx1"/>
                </a:solidFill>
                <a:latin typeface="Arial" charset="0"/>
              </a:defRPr>
            </a:lvl2pPr>
            <a:lvl3pPr defTabSz="3343275">
              <a:defRPr>
                <a:solidFill>
                  <a:schemeClr val="tx1"/>
                </a:solidFill>
                <a:latin typeface="Arial" charset="0"/>
              </a:defRPr>
            </a:lvl3pPr>
            <a:lvl4pPr defTabSz="3343275">
              <a:defRPr>
                <a:solidFill>
                  <a:schemeClr val="tx1"/>
                </a:solidFill>
                <a:latin typeface="Arial" charset="0"/>
              </a:defRPr>
            </a:lvl4pPr>
            <a:lvl5pPr defTabSz="3343275">
              <a:defRPr>
                <a:solidFill>
                  <a:schemeClr val="tx1"/>
                </a:solidFill>
                <a:latin typeface="Arial" charset="0"/>
              </a:defRPr>
            </a:lvl5pPr>
            <a:lvl6pPr defTabSz="33432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defTabSz="33432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defTabSz="33432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defTabSz="33432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defRPr/>
            </a:pPr>
            <a:r>
              <a:rPr lang="en-US" sz="12343" b="1" cap="all" dirty="0"/>
              <a:t>XX-000</a:t>
            </a:r>
          </a:p>
          <a:p>
            <a:pPr algn="just">
              <a:defRPr/>
            </a:pPr>
            <a:endParaRPr lang="en-US" sz="2469" cap="al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E92B1B-DEE8-B14F-A15A-CC5EC3065E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51717" y="800269"/>
            <a:ext cx="6145666" cy="491653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Box 11">
                <a:extLst>
                  <a:ext uri="{FF2B5EF4-FFF2-40B4-BE49-F238E27FC236}">
                    <a16:creationId xmlns:a16="http://schemas.microsoft.com/office/drawing/2014/main" id="{0F4716D4-974B-FD9A-65E9-5917EF16771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10446" y="21411819"/>
                <a:ext cx="10048603" cy="10539929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lIns="940526" tIns="470263" rIns="940526" bIns="940526" numCol="2"/>
              <a:lstStyle>
                <a:lvl1pPr eaLnBrk="0" hangingPunct="0">
                  <a:spcBef>
                    <a:spcPct val="20000"/>
                  </a:spcBef>
                  <a:buChar char="•"/>
                  <a:tabLst>
                    <a:tab pos="508000" algn="l"/>
                  </a:tabLst>
                  <a:defRPr sz="143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tabLst>
                    <a:tab pos="508000" algn="l"/>
                  </a:tabLst>
                  <a:defRPr sz="125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tabLst>
                    <a:tab pos="508000" algn="l"/>
                  </a:tabLst>
                  <a:defRPr sz="107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tabLst>
                    <a:tab pos="508000" algn="l"/>
                  </a:tabLst>
                  <a:defRPr sz="89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tabLst>
                    <a:tab pos="508000" algn="l"/>
                  </a:tabLst>
                  <a:defRPr sz="89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508000" algn="l"/>
                  </a:tabLst>
                  <a:defRPr sz="89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508000" algn="l"/>
                  </a:tabLst>
                  <a:defRPr sz="89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508000" algn="l"/>
                  </a:tabLst>
                  <a:defRPr sz="89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508000" algn="l"/>
                  </a:tabLst>
                  <a:defRPr sz="89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en-US" sz="4800" b="1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Methodology</a:t>
                </a:r>
              </a:p>
              <a:p>
                <a:pPr eaLnBrk="1" hangingPunct="1">
                  <a:spcBef>
                    <a:spcPct val="50000"/>
                  </a:spcBef>
                  <a:buNone/>
                </a:pPr>
                <a:r>
                  <a:rPr lang="en-US" altLang="en-US" sz="2800" u="sng" dirty="0">
                    <a:latin typeface="Arial" panose="020B0604020202020204" pitchFamily="34" charset="0"/>
                    <a:cs typeface="Arial" panose="020B0604020202020204" pitchFamily="34" charset="0"/>
                  </a:rPr>
                  <a:t>Framework</a:t>
                </a:r>
              </a:p>
              <a:p>
                <a:pPr marL="457200" indent="-457200" eaLnBrk="1" hangingPunct="1">
                  <a:spcBef>
                    <a:spcPct val="50000"/>
                  </a:spcBef>
                  <a:buFont typeface="+mj-lt"/>
                  <a:buAutoNum type="arabicPeriod"/>
                </a:pPr>
                <a:r>
                  <a:rPr lang="en-US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Graph-only: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Temporal Graph Network (TGN) on temporal graphs with cumulative contact duration as edge weights.</a:t>
                </a:r>
              </a:p>
              <a:p>
                <a:pPr eaLnBrk="1" hangingPunct="1">
                  <a:spcBef>
                    <a:spcPct val="500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𝒎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160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msg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𝑠</m:t>
                          </m:r>
                        </m:sub>
                      </m:sSub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b="1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60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−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b="1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𝑗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60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−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l-G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Δ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b="1" i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𝐞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(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)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     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𝒎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</m:d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160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msg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𝑑</m:t>
                          </m:r>
                        </m:sub>
                      </m:sSub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𝑗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−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−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l-G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Δ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b="1" i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𝐞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(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eaLnBrk="1" hangingPunct="1">
                  <a:spcBef>
                    <a:spcPct val="500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1600" b="1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accPr>
                            <m:e>
                              <m:r>
                                <a:rPr lang="en-US" sz="1600" b="1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𝒎</m:t>
                              </m:r>
                            </m:e>
                          </m:acc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</m:d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1600" b="0" i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agg</m:t>
                      </m:r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1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𝒎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600" i="1" smtClean="0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: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≤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</m:d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     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𝒔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</m:d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1600" b="0" i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mem</m:t>
                      </m:r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600" b="1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−</m:t>
                                  </m:r>
                                </m:sup>
                              </m:sSup>
                            </m:e>
                          </m:d>
                        </m:e>
                      </m:d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eaLnBrk="1" hangingPunct="1">
                  <a:spcBef>
                    <a:spcPct val="500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𝒛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</m:d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1600" b="0" i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emb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𝑗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∈</m:t>
                          </m:r>
                          <m:sSubSup>
                            <m:sSub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brk m:alnAt="7"/>
                                </m:rP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𝒩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𝑘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0,</m:t>
                                  </m:r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sub>
                        <m:sup/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h</m:t>
                          </m:r>
                          <m:d>
                            <m:d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1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𝒔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1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𝒔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𝑗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𝐞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𝑖𝑗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1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𝒗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1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𝒗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𝑗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457200" indent="-457200" eaLnBrk="1" hangingPunct="1">
                  <a:spcBef>
                    <a:spcPct val="50000"/>
                  </a:spcBef>
                  <a:buFont typeface="+mj-lt"/>
                  <a:buAutoNum type="arabicPeriod" startAt="2"/>
                </a:pPr>
                <a:r>
                  <a:rPr lang="en-US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Graph-and-Topology:</a:t>
                </a:r>
              </a:p>
              <a:p>
                <a:pPr eaLnBrk="1" hangingPunct="1">
                  <a:spcBef>
                    <a:spcPct val="50000"/>
                  </a:spcBef>
                  <a:buNone/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      Persistence diagrams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are computed from weighted clique 	filtrations.</a:t>
                </a:r>
                <a:b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l-G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Δ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</a:rPr>
                        <m:t> ,    </m:t>
                      </m:r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ℒ</m:t>
                      </m:r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p>
                        <m:sSup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acc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p>
                      </m:sSup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𝜆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𝐷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 </m:t>
                      </m:r>
                      <m:r>
                        <m:rPr>
                          <m:lit/>
                        </m:rP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|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𝐳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𝐭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𝜙</m:t>
                      </m:r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sSubSup>
                        <m:sSubSup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m:rPr>
                              <m:lit/>
                            </m:r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|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p>
                      </m:sSubSup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𝜆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 </m:t>
                      </m:r>
                      <m:r>
                        <m:rPr>
                          <m:lit/>
                        </m:rP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|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𝐳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𝐭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𝜙</m:t>
                      </m:r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sSubSup>
                        <m:sSubSup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m:rPr>
                              <m:lit/>
                            </m:r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|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1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085850" lvl="1" indent="-342900" eaLnBrk="1" hangingPunct="1">
                  <a:spcBef>
                    <a:spcPct val="50000"/>
                  </a:spcBef>
                  <a:buFont typeface="Wingdings" panose="05000000000000000000" pitchFamily="2" charset="2"/>
                  <a:buChar char="v"/>
                </a:pPr>
                <a:r>
                  <a:rPr lang="en-US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PersLay: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𝑃𝑒𝑟𝑠𝐿𝑎𝑦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≔</m:t>
                    </m:r>
                    <m:r>
                      <m:rPr>
                        <m:nor/>
                      </m:rPr>
                      <a:rPr lang="en-US" sz="2000" b="1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op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𝑤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(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𝑝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)⋅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𝜙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(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𝑝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)</m:t>
                                </m:r>
                              </m:e>
                            </m:d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𝑝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∈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𝑡</m:t>
                                </m:r>
                              </m:sub>
                            </m:sSub>
                          </m:sub>
                        </m:sSub>
                      </m:e>
                    </m:d>
                  </m:oMath>
                </a14:m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 indent="0" eaLnBrk="1" hangingPunct="1">
                  <a:spcBef>
                    <a:spcPct val="500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600" b="1" i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op</m:t>
                      </m:r>
                      <m:r>
                        <m:rPr>
                          <m:nor/>
                        </m:rPr>
                        <a:rPr lang="en-US" sz="1600" b="0" i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600" b="0" i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is</m:t>
                      </m:r>
                      <m:r>
                        <m:rPr>
                          <m:nor/>
                        </m:rPr>
                        <a:rPr lang="en-US" sz="1600" b="0" i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600" b="0" i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permutation</m:t>
                      </m:r>
                      <m:r>
                        <m:rPr>
                          <m:nor/>
                        </m:rPr>
                        <a:rPr lang="en-US" sz="1600" b="0" i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600" b="0" i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invariant</m:t>
                      </m:r>
                      <m:r>
                        <m:rPr>
                          <m:nor/>
                        </m:rPr>
                        <a:rPr lang="en-US" sz="1600" b="0" i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   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𝑤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:</m:t>
                      </m:r>
                      <m:sSup>
                        <m:s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ℝ</m:t>
                          </m:r>
                        </m:e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p>
                      </m:sSup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⟶</m:t>
                      </m:r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ℝ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6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is</m:t>
                      </m:r>
                      <m:r>
                        <m:rPr>
                          <m:nor/>
                        </m:rPr>
                        <a:rPr lang="en-US" sz="16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6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the</m:t>
                      </m:r>
                      <m:r>
                        <m:rPr>
                          <m:nor/>
                        </m:rPr>
                        <a:rPr lang="en-US" sz="16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6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weight</m:t>
                      </m:r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 indent="0" eaLnBrk="1" hangingPunct="1">
                  <a:spcBef>
                    <a:spcPct val="500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𝑤</m:t>
                      </m:r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:</m:t>
                      </m:r>
                      <m:sSup>
                        <m:sSup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ℝ</m:t>
                          </m:r>
                        </m:e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p>
                      </m:sSup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⟶</m:t>
                      </m:r>
                      <m:sSup>
                        <m:sSup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ℝ</m:t>
                          </m:r>
                        </m:e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𝑞</m:t>
                          </m:r>
                        </m:sup>
                      </m:sSup>
                      <m:r>
                        <m:rPr>
                          <m:nor/>
                        </m:rPr>
                        <a:rPr lang="en-US" sz="1600" b="0" i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60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is</m:t>
                      </m:r>
                      <m:r>
                        <m:rPr>
                          <m:nor/>
                        </m:rPr>
                        <a:rPr lang="en-US" sz="1600" b="0" i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600" b="0" i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en-US" sz="160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600" b="0" i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point</m:t>
                      </m:r>
                      <m:r>
                        <m:rPr>
                          <m:nor/>
                        </m:rPr>
                        <a:rPr lang="en-US" sz="1600" b="0" i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600" b="0" i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transform</m:t>
                      </m:r>
                      <m:r>
                        <m:rPr>
                          <m:nor/>
                        </m:rPr>
                        <a:rPr lang="en-US" sz="160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   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𝑝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𝑏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𝑑</m:t>
                              </m:r>
                            </m:sub>
                          </m:sSub>
                        </m:e>
                      </m:d>
                      <m:r>
                        <m:rPr>
                          <m:nor/>
                        </m:rPr>
                        <a:rPr lang="en-US" sz="1600" b="0" i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6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is</m:t>
                      </m:r>
                      <m:r>
                        <m:rPr>
                          <m:nor/>
                        </m:rPr>
                        <a:rPr lang="en-US" sz="16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6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en-US" sz="16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6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persistence</m:t>
                      </m:r>
                      <m:r>
                        <m:rPr>
                          <m:nor/>
                        </m:rPr>
                        <a:rPr lang="en-US" sz="16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6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interval</m:t>
                      </m:r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085850" lvl="1" indent="-342900" eaLnBrk="1" hangingPunct="1">
                  <a:spcBef>
                    <a:spcPct val="50000"/>
                  </a:spcBef>
                  <a:buFont typeface="Wingdings" panose="05000000000000000000" pitchFamily="2" charset="2"/>
                  <a:buChar char="v"/>
                </a:pPr>
                <a:r>
                  <a:rPr lang="en-US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Our Approach (RKHS):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The drift term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is mapped to an RKHS feature representation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𝜙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for topology-constrained learning.</a:t>
                </a:r>
              </a:p>
              <a:p>
                <a:pPr lvl="1" indent="0" eaLnBrk="1" hangingPunct="1">
                  <a:spcBef>
                    <a:spcPct val="500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𝐾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𝑋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𝐴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≅⊕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ℤ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,   </m:t>
                      </m:r>
                      <m:acc>
                        <m:accPr>
                          <m:chr m:val="̂"/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acc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𝐾</m:t>
                          </m:r>
                          <m:d>
                            <m:d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𝑋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𝐴</m:t>
                              </m:r>
                            </m:e>
                          </m:d>
                        </m:e>
                      </m:acc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∏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𝕋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,  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𝜒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𝛼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p>
                        <m:s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𝑒</m:t>
                          </m:r>
                        </m:e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  <m:d>
                            <m:dPr>
                              <m:begChr m:val="⟨"/>
                              <m:endChr m:val="⟩"/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𝛼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𝜃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 indent="0" eaLnBrk="1" hangingPunct="1">
                  <a:spcBef>
                    <a:spcPct val="500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𝜆</m:t>
                      </m:r>
                      <m:d>
                        <m:dPr>
                          <m:ctrlPr>
                            <a:rPr lang="en-US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𝜃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𝑢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𝑣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∈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𝑉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𝑢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𝑣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𝑖</m:t>
                                      </m:r>
                                      <m:sSub>
                                        <m:sSubPr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𝜙</m:t>
                                          </m:r>
                                        </m:e>
                                        <m:sub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𝜃</m:t>
                                          </m:r>
                                        </m:sub>
                                      </m:s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(</m:t>
                                      </m:r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𝑢</m:t>
                                      </m:r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𝑖</m:t>
                                      </m:r>
                                      <m:sSub>
                                        <m:sSubPr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𝜙</m:t>
                                          </m:r>
                                        </m:e>
                                        <m:sub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𝜃</m:t>
                                          </m:r>
                                        </m:sub>
                                      </m:s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(</m:t>
                                      </m:r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𝑣</m:t>
                                      </m:r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, 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𝑑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𝜈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𝜃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p>
                        <m:s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𝑒</m:t>
                          </m:r>
                        </m:e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𝜆</m:t>
                          </m:r>
                          <m:d>
                            <m:d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𝜃</m:t>
                              </m:r>
                            </m:e>
                          </m:d>
                        </m:sup>
                      </m:sSup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𝑑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𝜇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𝜃</m:t>
                          </m:r>
                        </m:e>
                      </m:d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 indent="0" eaLnBrk="1" hangingPunct="1">
                  <a:spcBef>
                    <a:spcPct val="50000"/>
                  </a:spcBef>
                  <a:buNone/>
                </a:pP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                                           ↓ (Fourier-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Stieltjes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Transform)</a:t>
                </a:r>
              </a:p>
              <a:p>
                <a:pPr lvl="1" indent="0" eaLnBrk="1" hangingPunct="1">
                  <a:spcBef>
                    <a:spcPct val="500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𝑘</m:t>
                          </m:r>
                        </m:e>
                        <m:sub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𝜈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𝛼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𝛽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∫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∏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𝕋</m:t>
                          </m:r>
                        </m:sub>
                      </m:sSub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𝜒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𝛼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𝛽</m:t>
                          </m:r>
                        </m:e>
                      </m:d>
                      <m:sSup>
                        <m:sSup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𝑒</m:t>
                          </m:r>
                        </m:e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𝜆</m:t>
                          </m:r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𝜃</m:t>
                              </m:r>
                            </m:e>
                          </m:d>
                        </m:sup>
                      </m:sSup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𝑑</m:t>
                      </m:r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𝜇</m:t>
                      </m:r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(</m:t>
                      </m:r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𝜃</m:t>
                      </m:r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)</m:t>
                      </m:r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 indent="0" eaLnBrk="1" hangingPunct="1">
                  <a:spcBef>
                    <a:spcPct val="50000"/>
                  </a:spcBef>
                  <a:buNone/>
                </a:pP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                     ↓ (Bochner’s Theorem) ↓ (Reproducing Kernel Hilbert Space)             </a:t>
                </a:r>
              </a:p>
              <a:p>
                <a:pPr lvl="1" indent="0" eaLnBrk="1" hangingPunct="1">
                  <a:spcBef>
                    <a:spcPct val="500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𝑘</m:t>
                          </m:r>
                        </m:e>
                        <m:sub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𝜈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𝛼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𝛽</m:t>
                          </m:r>
                        </m:e>
                      </m:d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Φ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𝜈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sub>
                              </m:sSub>
                              <m:d>
                                <m:d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𝛼</m:t>
                                  </m:r>
                                </m:e>
                              </m:d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Φ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𝜈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(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𝛼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)</m:t>
                              </m:r>
                            </m:e>
                          </m:d>
                        </m:e>
                        <m:sub>
                          <m:sSup>
                            <m:sSup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𝜈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  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ℋ</m:t>
                          </m:r>
                        </m:e>
                        <m:sub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𝜈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</m:sSub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en-US" sz="1600" b="0" i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span</m:t>
                          </m:r>
                        </m:e>
                      </m:acc>
                      <m:d>
                        <m:dPr>
                          <m:begChr m:val="{"/>
                          <m:endChr m:val="}"/>
                          <m:ctrlPr>
                            <a:rPr lang="en-US" sz="16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Φ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𝜈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𝑡</m:t>
                                  </m:r>
                                </m:sub>
                              </m:sSub>
                            </m:sub>
                          </m:sSub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𝛼</m:t>
                              </m:r>
                            </m:e>
                          </m:d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: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𝛼</m:t>
                          </m:r>
                          <m:r>
                            <a:rPr lang="en-US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∈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𝐾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(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𝑋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𝐴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 indent="0" eaLnBrk="1" hangingPunct="1">
                  <a:spcBef>
                    <a:spcPct val="50000"/>
                  </a:spcBef>
                  <a:buNone/>
                </a:pPr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 indent="0" eaLnBrk="1" hangingPunct="1">
                  <a:spcBef>
                    <a:spcPct val="50000"/>
                  </a:spcBef>
                  <a:buNone/>
                </a:pPr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 indent="0" eaLnBrk="1" hangingPunct="1">
                  <a:spcBef>
                    <a:spcPct val="50000"/>
                  </a:spcBef>
                  <a:buNone/>
                </a:pPr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Text Box 11">
                <a:extLst>
                  <a:ext uri="{FF2B5EF4-FFF2-40B4-BE49-F238E27FC236}">
                    <a16:creationId xmlns:a16="http://schemas.microsoft.com/office/drawing/2014/main" id="{0F4716D4-974B-FD9A-65E9-5917EF1677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10446" y="21411819"/>
                <a:ext cx="10048603" cy="1053992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Override1.xml><?xml version="1.0" encoding="utf-8"?>
<a:themeOverride xmlns:a="http://schemas.openxmlformats.org/drawingml/2006/main">
  <a:clrScheme name="Default Design 3">
    <a:dk1>
      <a:srgbClr val="000000"/>
    </a:dk1>
    <a:lt1>
      <a:srgbClr val="FFFFFF"/>
    </a:lt1>
    <a:dk2>
      <a:srgbClr val="000000"/>
    </a:dk2>
    <a:lt2>
      <a:srgbClr val="333333"/>
    </a:lt2>
    <a:accent1>
      <a:srgbClr val="DDDDDD"/>
    </a:accent1>
    <a:accent2>
      <a:srgbClr val="808080"/>
    </a:accent2>
    <a:accent3>
      <a:srgbClr val="FFFFFF"/>
    </a:accent3>
    <a:accent4>
      <a:srgbClr val="000000"/>
    </a:accent4>
    <a:accent5>
      <a:srgbClr val="EBEBEB"/>
    </a:accent5>
    <a:accent6>
      <a:srgbClr val="737373"/>
    </a:accent6>
    <a:hlink>
      <a:srgbClr val="4D4D4D"/>
    </a:hlink>
    <a:folHlink>
      <a:srgbClr val="EAEAEA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7310</TotalTime>
  <Words>711</Words>
  <Application>Microsoft Office PowerPoint</Application>
  <PresentationFormat>Custom</PresentationFormat>
  <Paragraphs>52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Cambria Math</vt:lpstr>
      <vt:lpstr>Helvetica</vt:lpstr>
      <vt:lpstr>Times New Roman</vt:lpstr>
      <vt:lpstr>Wingdings</vt:lpstr>
      <vt:lpstr>Default Design</vt:lpstr>
      <vt:lpstr>PowerPoint Presentation</vt:lpstr>
    </vt:vector>
  </TitlesOfParts>
  <LinksUpToDate>false</LinksUpToDate>
  <SharedDoc>false</SharedDoc>
  <HyperlinkBase>http://colinpurrington.com/tips/academic/posterdesign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Poster template</dc:title>
  <dc:subject>conference poster</dc:subject>
  <dc:creator>Colin Purrington</dc:creator>
  <cp:keywords>poster, conference, session, meeting, symposium, research, presentation</cp:keywords>
  <dc:description>This template is free for you to use to create your poster.  Do not host this file on your own server, even in adapted form. If you need to post a template, please steal somebody else's or just make your own (it's easy).  Thanks!</dc:description>
  <cp:lastModifiedBy>Charles Fanning</cp:lastModifiedBy>
  <cp:revision>542</cp:revision>
  <cp:lastPrinted>2011-10-30T12:54:45Z</cp:lastPrinted>
  <dcterms:created xsi:type="dcterms:W3CDTF">2012-06-12T14:08:55Z</dcterms:created>
  <dcterms:modified xsi:type="dcterms:W3CDTF">2026-04-01T20:58:15Z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wner">
    <vt:lpwstr>Colin Purrington</vt:lpwstr>
  </property>
</Properties>
</file>